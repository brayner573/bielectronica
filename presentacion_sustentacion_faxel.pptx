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371600"/>
            <a:ext cx="10817352" cy="2926080"/>
          </a:xfrm>
          <a:prstGeom prst="rect">
            <a:avLst/>
          </a:prstGeom>
          <a:solidFill>
            <a:srgbClr val="1E293B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4B8A6"/>
                </a:solidFill>
                <a:latin typeface="Arial"/>
              </a:defRPr>
            </a:pPr>
            <a:r>
              <a:t>SUSTENTACIÓN DE PRÁCTICAS PRE-PROFESIONALES</a:t>
            </a:r>
          </a:p>
          <a:p>
            <a:pPr algn="ctr">
              <a:spcBef>
                <a:spcPts val="1400"/>
              </a:spcBef>
              <a:defRPr sz="1800">
                <a:solidFill>
                  <a:srgbClr val="FFFFFF"/>
                </a:solidFill>
                <a:latin typeface="Arial"/>
              </a:defRPr>
            </a:pPr>
            <a:r>
              <a:t>Desarrollo e Implementación de FAXEL BI: Plataforma SaaS Multi-tenant de Facturación Electrónica PWA e Inteligencia Analítica Predictiva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754880"/>
            <a:ext cx="10817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BD5E1"/>
                </a:solidFill>
              </a:defRPr>
            </a:pPr>
            <a:r>
              <a:t>Expositor: Brayner</a:t>
            </a:r>
          </a:p>
          <a:p>
            <a:pPr algn="ctr">
              <a:defRPr sz="1400">
                <a:solidFill>
                  <a:srgbClr val="CBD5E1"/>
                </a:solidFill>
              </a:defRPr>
            </a:pPr>
            <a:r>
              <a:t>Carrera: Ingeniería de Sistemas</a:t>
            </a:r>
          </a:p>
          <a:p>
            <a:pPr algn="ctr">
              <a:spcBef>
                <a:spcPts val="1000"/>
              </a:spcBef>
              <a:defRPr sz="1200">
                <a:solidFill>
                  <a:srgbClr val="6366F1"/>
                </a:solidFill>
              </a:defRPr>
            </a:pPr>
            <a:r>
              <a:t>Junio,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B8A6"/>
                </a:solidFill>
                <a:latin typeface="Arial"/>
              </a:defRPr>
            </a:pPr>
            <a:r>
              <a:t>Identificación del Problema Comercial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"/>
            <a:ext cx="10817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FAXEL BI — ANALÍTICA &amp; FACTURACIÓN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38328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Facturación UBL 2.1 Compleja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Regulación tributaria exigente y cambiante de SUNAT.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Los sistemas comerciales estándar se limitan a registrar ventas sin dar valor agregado.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Costos de emisión e integración de XML elevados para pequeñas empresas.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38328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Barreras en Business Intelligence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Herramientas tradicionales (Power BI, Tableau) requieren licencias costosas.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Curva de aprendizaje alta y necesidad de personal de TI dedicado.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Los datos comerciales se quedan dormidos en bases de datos sin analizar.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1645920"/>
            <a:ext cx="338328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Decisiones Reactivas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Pérdida constante de clientes habituales por falta de monitoreo.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Dificultad para prever picos de demanda y stock de inventarios.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Decisiones comerciales basadas en intuición en lugar de datos predictivos.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B8A6"/>
                </a:solidFill>
                <a:latin typeface="Arial"/>
              </a:defRPr>
            </a:pPr>
            <a:r>
              <a:t>Objetivos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"/>
            <a:ext cx="10817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FAXEL BI — ANALÍTICA &amp; FACTURACIÓN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Objetivo General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Desarrollar e implementar la plataforma web SaaS Multi-tenant 'FAXEL BI' que resuelva e integre la facturación electrónica bajo normativas SUNAT (UBL 2.1) con un motor analítico predictivo basado en Inteligencia Artificial, proporcionando a las Pymes herramientas comerciales avanzadas de bajo costo y alta accesibilidad.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8288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Objetivos Específicos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1. Implementar una arquitectura multi-tenant segura con aislamiento lógico estricto.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2. Automatizar el pipeline de generación de comprobantes XML, firma criptográfica y CDR de SUNAT.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3. Integrar modelos predictivos (Prophet) para previsión de ventas a 7/30 días.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4. Desarrollar un clasificador (RandomForest) para predecir el riesgo de deserción de clientes (Churn).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5. Crear un chatbot analítico interactivo con tecnología segura Text-to-SQL.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B8A6"/>
                </a:solidFill>
                <a:latin typeface="Arial"/>
              </a:defRPr>
            </a:pPr>
            <a:r>
              <a:t>Alcance de 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"/>
            <a:ext cx="10817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FAXEL BI — ANALÍTICA &amp; FACTURACIÓN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SaaS Multi-tenant Lógico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Aislamiento riguroso de múltiples inquilinos mercantiles en un mismo servidor mediante un ruteo relacional basado en IDs únicos.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2512" y="1645920"/>
            <a:ext cx="51206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8288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Instalabilidad PWA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Estructura web adaptable e instalable en dispositivos móviles y de escritorio, optimizada con Service Workers para carga instantánea.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840480"/>
            <a:ext cx="51206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0233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Inteligencia Artificial Predictiva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Proyecciones de ventas a corto y mediano plazo junto con evaluaciones automatizadas de riesgo de fuga de clientes habituales.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3840480"/>
            <a:ext cx="51206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40233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Infraestructura cPanel WSGI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Optimización y despliegue del microservicio de IA en servidores compartidos cPanel tradicionales mediante adaptadores WSGI Phusion Passenger.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B8A6"/>
                </a:solidFill>
                <a:latin typeface="Arial"/>
              </a:defRPr>
            </a:pPr>
            <a:r>
              <a:t>Metodología de Desarrollo y Fases (SDLC)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"/>
            <a:ext cx="10817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FAXEL BI — ANALÍTICA &amp; FACTURACIÓN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828800"/>
            <a:ext cx="1965960" cy="3749039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16002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1. Análisis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Definición de requerimientos funcionales y no funcionales.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Matriz detallada de 26 casos de uso comerciales.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898648" y="1828800"/>
            <a:ext cx="1965960" cy="3749039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81528" y="2011680"/>
            <a:ext cx="16002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2. Diseño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Modelado Entidad-Relación de base de datos.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Diseño de interfaces en Figma con modo oscuro premium.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11496" y="1828800"/>
            <a:ext cx="1965960" cy="3749039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94376" y="2011680"/>
            <a:ext cx="16002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3. Desarrollo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Desarrollo ágil en sprints de 2 semanas.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Codificación en PHP nativo MVC y Python Flask API.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24344" y="1828800"/>
            <a:ext cx="1965960" cy="3749039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07224" y="2011680"/>
            <a:ext cx="16002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4. Pruebas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Ejecución automatizada de 18 pruebas unitarias críticas.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Simulaciones de firma y validación de SUNAT.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37192" y="1828800"/>
            <a:ext cx="1965960" cy="3749039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20072" y="2011680"/>
            <a:ext cx="16002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5. Despliegue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Migración a cPanel.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Configuración del adaptador WSGI e interconexión interna de APIs.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B8A6"/>
                </a:solidFill>
                <a:latin typeface="Arial"/>
              </a:defRPr>
            </a:pPr>
            <a:r>
              <a:t>Arquitectura Multicapa Desacoplada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"/>
            <a:ext cx="10817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FAXEL BI — ANALÍTICA &amp; FACTURACIÓN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38328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Capa de Presentación (PWA)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HTML5 Semántico e Interfaz responsiva CSS3 Vanilla.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Lógica interactiva en JavaScript ES6.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Service Workers para almacenamiento de caché local y velocidad de carga extrema.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38328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Capa de Negocio (Backend)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Servidor web modular en PHP 8.4.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Estructura MVC con ruteador limpio para control de controladores y modelos.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Cliente cURL integrado para consultar el microservicio analítico de 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1645920"/>
            <a:ext cx="338328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Capa Analítica (IA)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API REST en Python Flask.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Librería Prophet para series temporales de ventas.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Scikit-learn (RandomForest) para detección de deserción de clientes.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Motor regex de traducción a SQL seguro.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B8A6"/>
                </a:solidFill>
                <a:latin typeface="Arial"/>
              </a:defRPr>
            </a:pPr>
            <a:r>
              <a:t>Diseño Relacional y Aislamiento Multi-Tenant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"/>
            <a:ext cx="10817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FAXEL BI — ANALÍTICA &amp; FACTURACIÓN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Diseño de Base de Datos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Estructura relacional con 16 tablas principales en MySQL.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Vistas analíticas integradas para cálculo veloz de márgenes de ganancia y utilidades por producto.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Índices compuestos optimizados en columnas de mayor consulta (`empresa_id`, `fecha_emision`, `cliente_id`).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8288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Seguridad Lógica Multi-Tenant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Compartición de Base de Datos (Shared DB, Shared Schema) para reducir costos.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Cláusula obligatoria `empresa_id = :empresa_id` inyectada automáticamente en todas las sentencias SQL de consulta e inserción.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Aislamiento absoluto confirmado a nivel de código y base de datos, imposibilitando la fuga transversal de información.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B8A6"/>
                </a:solidFill>
                <a:latin typeface="Arial"/>
              </a:defRPr>
            </a:pPr>
            <a:r>
              <a:t>Flujo de Emisión de Comprobantes UBL 2.1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"/>
            <a:ext cx="10817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FAXEL BI — ANALÍTICA &amp; FACTURACIÓN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828800"/>
            <a:ext cx="2468880" cy="3749039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210312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1. Entrada de Datos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Selección del tipo de documento (Factura, Boleta).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Consulta automática de RUC/DNI.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Autocompletado de dirección y razón social.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0" y="1828800"/>
            <a:ext cx="2468880" cy="3749039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2011680"/>
            <a:ext cx="210312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2. Cálculo de IGV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Desglose aritmético inmediato del IGV del 18%.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Determinación de la Base Imponible y del Total.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Redondeo matemático de 2 decimales según SUNAT.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828800"/>
            <a:ext cx="2468880" cy="3749039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2011680"/>
            <a:ext cx="210312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3. XML &amp; Firma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Generación del archivo XML estructurado en UBL 2.1.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Firma digital SHA-256 usando el certificado del emisor.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Grabación del archivo en el sistema de archivos del servidor.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1080" y="1828800"/>
            <a:ext cx="2468880" cy="3749039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2011680"/>
            <a:ext cx="210312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4. Recepción (CDR)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Transmisión directa al web service de SUNAT.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Recepción del CDR comprimido en ZIP.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Procesamiento y cambio de estado a 'Aceptado' o 'Rechazado'.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B8A6"/>
                </a:solidFill>
                <a:latin typeface="Arial"/>
              </a:defRPr>
            </a:pPr>
            <a:r>
              <a:t>Previsión Analítica de Ventas (Prophet)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"/>
            <a:ext cx="10817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FAXEL BI — ANALÍTICA &amp; FACTURACIÓN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Algoritmo Prophet (Meta)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Modelo aditivo de pronóstico de series temporales.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Diseñado para manejar fuertes estacionalidades comerciales (diarias, semanales y anuales).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Alta tolerancia frente a días festivos y registros de ventas faltantes.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Requiere un mínimo de 10 registros históricos para operar.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8288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Visualización e Indicadores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Generación de proyecciones a corto (7 días) y mediano plazo (30 días).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Visualización de bandas de confianza (Límites Superior e Inferior) en gráficos de áreas.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Cálculo del coeficiente R² Score y Error Absoluto Medio (MAE) para retroalimentar la confiabilidad del modelo en caliente.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B8A6"/>
                </a:solidFill>
                <a:latin typeface="Arial"/>
              </a:defRPr>
            </a:pPr>
            <a:r>
              <a:t>Clasificación de Riesgo de Abandono (Churn)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"/>
            <a:ext cx="10817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FAXEL BI — ANALÍTICA &amp; FACTURACIÓN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Modelo RandomForest Classifier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Algoritmo de ensamble de árboles de decisión (Scikit-Learn).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Mapeo de variables clave: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  - Días sin compra del cliente.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  - Cantidad total de transacciones históricas.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  - Monto total acumulado de consumo.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  - Ticket promedio por venta.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8288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Semáforo de Riesgo y Acciones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**Riesgo Alto (70-100%)**: Clasificación roja. Se sugieren acciones como llamadas directas del gerente de cuentas.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**Riesgo Medio (40-69%)**: Clasificación naranja. Dispara campañas de e-mail marketing o cupones de descuento.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**Riesgo Bajo (0-39%)**: Clasificación verde. Clientes con comportamiento de fidelidad estable.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B8A6"/>
                </a:solidFill>
                <a:latin typeface="Arial"/>
              </a:defRPr>
            </a:pPr>
            <a:r>
              <a:t>Chat de Negocios Inteligente (Text-to-SQL)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"/>
            <a:ext cx="10817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FAXEL BI — ANALÍTICA &amp; FACTURACIÓN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Enrutamiento Conversacional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Entrada por texto y dictado por voz (Whisper).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Clasificación con expresiones regulares optimizadas para identificar intenciones analíticas: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  - Ventas del periodo actual (`ventas_mes`)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  - Productos estrella (`producto_top`)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  - Clientes con riesgo de abandono (`churn`)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  - Estado de facturación (`alertas`)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8288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Generación y Seguridad SQL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El motor en Python traduce la consulta a una sintaxis SQL relacional segura.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**Aislamiento Multitenant Estricto**: Se inyecta de forma interna y parametrizada el ID de la empresa del usuario en sesión, garantizando que el chat no lea datos de otras organizaciones.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Retorno de la data estructurada en formato JSON compatible con gráficos en el Front-end.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B8A6"/>
                </a:solidFill>
                <a:latin typeface="Arial"/>
              </a:defRPr>
            </a:pPr>
            <a:r>
              <a:t>Aseguramiento de Calidad y Pruebas Unitarias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"/>
            <a:ext cx="10817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FAXEL BI — ANALÍTICA &amp; FACTURACIÓN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Pruebas Unitarias Backend (PHP)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**13 Pruebas Exitosas en `tests/run_tests.php`**: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  - Sanitización anti-XSS y Hashing Bcrypt.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  - Privilegios en la matriz ACL por rol (vendedor vs gerente).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  - Fórmulas del emisor de facturas: Base Imponible, IGV (18%) y total.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  - Escritura de XML y archivos de recepción CDR simulados en disco.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  - Longitud e integridad de firma digital SHA-256.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8288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Pruebas Unitarias de IA (Python)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**5 Pruebas Exitosas en `tests/test_models.py`**: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  - Lanzamiento de error ante datos históricos insuficientes.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  - Exactitud y dimensiones de predicciones de Prophet a 7 y 30 días.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  - Asignación de riesgo y categorización en Churn RandomForest.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  - Detección de intenciones y aislamiento de inquilinos en Text-to-SQL.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B8A6"/>
                </a:solidFill>
                <a:latin typeface="Arial"/>
              </a:defRPr>
            </a:pPr>
            <a:r>
              <a:t>Arquitectura de Despliegue en cPanel WSGI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"/>
            <a:ext cx="10817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FAXEL BI — ANALÍTICA &amp; FACTURACIÓN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Desafíos y Soluciones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Los servidores compartidos cPanel no permiten la ejecución persistente de scripts de fondo en Python de manera nativa.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**Solución**: Uso del módulo 'Setup Python App' de cPanel alimentado por Phusion Passenger WSGI.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Detección automática en producción para configurar la base de datos `iaws_faxel_bi` de forma transparente.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8288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Adaptador WSGI (`passenger_wsgi.py`)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Creación de un punto de entrada adaptado para importar el microservicio Flask.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Configuración del entorno virtual (`venv`) de cPanel para cargar librerías complejas (Prophet, scikit-learn, NumPy).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Comunicación interna fluida mediante peticiones HTTP locales cifradas desde PHP.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B8A6"/>
                </a:solidFill>
                <a:latin typeface="Arial"/>
              </a:defRPr>
            </a:pPr>
            <a:r>
              <a:t>Conclusiones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"/>
            <a:ext cx="10817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FAXEL BI — ANALÍTICA &amp; FACTURACIÓN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38328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SaaS Multi-tenant Rentable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Se demostró que es viable aislar lógicamente la información comercial de múltiples empresas dentro de un único esquema de base de datos compartida, abaratando sustancialmente los costos de hosting para Pymes.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38328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Automatización y Cumplimiento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El módulo de facturación automatiza los estándares de SUNAT (UBL 2.1), reduciendo las tasas de error comunes en cálculos tributarios y firmas de XML mediante cálculos de doble precisión.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1645920"/>
            <a:ext cx="338328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Analítica Predictiva Viable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Los modelos Prophet y RandomForest otorgan capacidades de analítica avanzada accesibles y comprensibles a través de un chat natural, empoderando a gerentes en la retención de clientes y planeamiento comercial.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B8A6"/>
                </a:solidFill>
                <a:latin typeface="Arial"/>
              </a:defRPr>
            </a:pPr>
            <a:r>
              <a:t>Recomendaciones para 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5720"/>
            <a:ext cx="108173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FAXEL BI — ANALÍTICA &amp; FACTURACIÓN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Evolución de Arquitectura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**Migración Serverless**: Con el crecimiento del número de inquilinos, migrar la API de Python a Google Cloud Run o AWS Lambda para gestionar picos de cómputo matemático sin sobrecargar el servidor compartido.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**Firma Digital PEM Real**: Sustituir el simulador mock de firma digital SHA-256 por el firmado físico con certificados PEM cargados en disco y cifrados con claves seguras del sistema.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2512" y="1645920"/>
            <a:ext cx="51206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82880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366F1"/>
                </a:solidFill>
                <a:latin typeface="Arial"/>
              </a:defRPr>
            </a:pPr>
            <a:r>
              <a:t>Calidad y Mantenimiento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**Pipeline CI/CD**: Implementar flujos en GitHub Actions que ejecuten las suites de pruebas unitarias (`run_tests.php` y `test_models.py`) de forma automática en cada push, previniendo despliegues rotos.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• **Retrenamiento del Modelo (Model Drift)**: Implementar una tarea programada (Cron Job) semanal en cPanel para reentrenar de manera silenciosa los estimadores RandomForest de Churn.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solidFill>
            <a:srgbClr val="1E293B"/>
          </a:solidFill>
          <a:ln w="508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10312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14B8A6"/>
                </a:solidFill>
                <a:latin typeface="Arial"/>
              </a:defRPr>
            </a:pPr>
            <a:r>
              <a:t>¡MUCHAS GRACIAS!</a:t>
            </a:r>
          </a:p>
          <a:p>
            <a:pPr algn="ctr">
              <a:spcBef>
                <a:spcPts val="20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t>Ronda de Preguntas y Respuestas — Sustentación de Prácticas</a:t>
            </a:r>
          </a:p>
          <a:p>
            <a:pPr algn="ctr">
              <a:spcBef>
                <a:spcPts val="24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FAXEL BI: Facturación y Analítica de Negocio con Inteligencia Artificial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